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Bluestock Mutual Fund Analytics 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Prepared By:</a:t>
            </a:r>
            <a:r>
              <a:rPr dirty="0"/>
              <a:t>Mohamed Ismail M</a:t>
            </a:r>
          </a:p>
          <a:p>
            <a:pPr marL="0" indent="0">
              <a:buNone/>
            </a:pPr>
            <a:r>
              <a:rPr dirty="0"/>
              <a:t>• Technologies: Python, Pandas, NumPy,</a:t>
            </a:r>
            <a:r>
              <a:rPr lang="en-IN" dirty="0"/>
              <a:t> Matplotlib,</a:t>
            </a:r>
            <a:r>
              <a:rPr dirty="0"/>
              <a:t> Power BI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IN" dirty="0"/>
              <a:t>Project Domains:</a:t>
            </a:r>
            <a:r>
              <a:rPr dirty="0"/>
              <a:t> </a:t>
            </a:r>
            <a:r>
              <a:rPr lang="en-IN" dirty="0"/>
              <a:t>Financial Analytics, Risk Assessment, Investor Analytics, Business Intelligence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Large mutual fund datasets are difficult to analyze manually</a:t>
            </a:r>
          </a:p>
          <a:p>
            <a:pPr marL="0" indent="0">
              <a:buNone/>
            </a:pPr>
            <a:r>
              <a:rPr dirty="0"/>
              <a:t>• Evaluate performance and risk</a:t>
            </a:r>
          </a:p>
          <a:p>
            <a:pPr marL="0" indent="0">
              <a:buNone/>
            </a:pPr>
            <a:r>
              <a:rPr dirty="0"/>
              <a:t>• Analyze investor </a:t>
            </a:r>
            <a:r>
              <a:rPr dirty="0" err="1"/>
              <a:t>behaviour</a:t>
            </a:r>
            <a:endParaRPr dirty="0"/>
          </a:p>
          <a:p>
            <a:pPr marL="0" indent="0">
              <a:buNone/>
            </a:pPr>
            <a:r>
              <a:rPr dirty="0"/>
              <a:t>• Build interactive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Fund Performance Data</a:t>
            </a:r>
          </a:p>
          <a:p>
            <a:pPr marL="0" indent="0">
              <a:buNone/>
            </a:pPr>
            <a:r>
              <a:rPr dirty="0"/>
              <a:t>• NAV History</a:t>
            </a:r>
          </a:p>
          <a:p>
            <a:pPr marL="0" indent="0">
              <a:buNone/>
            </a:pPr>
            <a:r>
              <a:rPr dirty="0"/>
              <a:t>• Benchmark Data</a:t>
            </a:r>
          </a:p>
          <a:p>
            <a:pPr marL="0" indent="0">
              <a:buNone/>
            </a:pPr>
            <a:r>
              <a:rPr dirty="0"/>
              <a:t>• Investor Transactions</a:t>
            </a:r>
          </a:p>
          <a:p>
            <a:pPr marL="0" indent="0">
              <a:buNone/>
            </a:pPr>
            <a:r>
              <a:rPr dirty="0"/>
              <a:t>• Portfolio Holdings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dirty="0"/>
              <a:t>Raw Mutual Fund Data</a:t>
            </a:r>
          </a:p>
          <a:p>
            <a:pPr marL="0" indent="0" algn="ctr">
              <a:buNone/>
            </a:pPr>
            <a:r>
              <a:rPr lang="en-IN" sz="2000" dirty="0"/>
              <a:t>  ↓</a:t>
            </a:r>
          </a:p>
          <a:p>
            <a:pPr marL="0" indent="0" algn="ctr">
              <a:buNone/>
            </a:pPr>
            <a:r>
              <a:rPr lang="en-IN" sz="2000" dirty="0"/>
              <a:t>ETL &amp; Data Cleaning</a:t>
            </a:r>
          </a:p>
          <a:p>
            <a:pPr marL="0" indent="0" algn="ctr">
              <a:buNone/>
            </a:pPr>
            <a:r>
              <a:rPr lang="en-IN" sz="2000" dirty="0"/>
              <a:t>  ↓</a:t>
            </a:r>
          </a:p>
          <a:p>
            <a:pPr marL="0" indent="0" algn="ctr">
              <a:buNone/>
            </a:pPr>
            <a:r>
              <a:rPr lang="en-IN" sz="2000" dirty="0"/>
              <a:t>Feature Engineering</a:t>
            </a:r>
          </a:p>
          <a:p>
            <a:pPr marL="0" indent="0" algn="ctr">
              <a:buNone/>
            </a:pPr>
            <a:r>
              <a:rPr lang="en-IN" sz="2000" dirty="0"/>
              <a:t>  ↓</a:t>
            </a:r>
          </a:p>
          <a:p>
            <a:pPr marL="0" indent="0" algn="ctr">
              <a:buNone/>
            </a:pPr>
            <a:r>
              <a:rPr lang="en-IN" sz="2000" dirty="0"/>
              <a:t>EDA &amp; Performance Analysis</a:t>
            </a:r>
          </a:p>
          <a:p>
            <a:pPr marL="0" indent="0" algn="ctr">
              <a:buNone/>
            </a:pPr>
            <a:r>
              <a:rPr lang="en-IN" sz="2000" dirty="0"/>
              <a:t>  ↓</a:t>
            </a:r>
          </a:p>
          <a:p>
            <a:pPr marL="0" indent="0" algn="ctr">
              <a:buNone/>
            </a:pPr>
            <a:r>
              <a:rPr lang="en-IN" sz="2000" dirty="0"/>
              <a:t>Risk Analytics</a:t>
            </a:r>
          </a:p>
          <a:p>
            <a:pPr marL="0" indent="0" algn="ctr">
              <a:buNone/>
            </a:pPr>
            <a:r>
              <a:rPr lang="en-IN" sz="2000" dirty="0"/>
              <a:t>  ↓</a:t>
            </a:r>
          </a:p>
          <a:p>
            <a:pPr marL="0" indent="0" algn="ctr">
              <a:buNone/>
            </a:pPr>
            <a:r>
              <a:rPr lang="en-IN" sz="2000" dirty="0"/>
              <a:t>Power BI Dashboard</a:t>
            </a:r>
          </a:p>
          <a:p>
            <a:pPr marL="0" indent="0" algn="ctr">
              <a:buNone/>
            </a:pPr>
            <a:r>
              <a:rPr lang="en-IN" sz="2000" dirty="0"/>
              <a:t>  ↓</a:t>
            </a:r>
          </a:p>
          <a:p>
            <a:pPr marL="0" indent="0" algn="ctr">
              <a:buNone/>
            </a:pPr>
            <a:r>
              <a:rPr lang="en-IN" sz="2000" dirty="0"/>
              <a:t>Business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 – Industry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AUM Growth Analysis</a:t>
            </a:r>
          </a:p>
          <a:p>
            <a:pPr marL="0" indent="0">
              <a:buNone/>
            </a:pPr>
            <a:r>
              <a:rPr dirty="0"/>
              <a:t>• Fund House Comparison</a:t>
            </a:r>
          </a:p>
          <a:p>
            <a:pPr marL="0" indent="0">
              <a:buNone/>
            </a:pPr>
            <a:r>
              <a:rPr dirty="0"/>
              <a:t>• Category Distribution</a:t>
            </a:r>
          </a:p>
          <a:p>
            <a:pPr marL="0" indent="0">
              <a:buNone/>
            </a:pPr>
            <a:r>
              <a:rPr dirty="0"/>
              <a:t>• Increasing SIP Participation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 – Investor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State-wise Investments</a:t>
            </a:r>
          </a:p>
          <a:p>
            <a:pPr marL="0" indent="0">
              <a:buNone/>
            </a:pPr>
            <a:r>
              <a:rPr dirty="0"/>
              <a:t>• Age Group Analysis</a:t>
            </a:r>
          </a:p>
          <a:p>
            <a:pPr marL="0" indent="0">
              <a:buNone/>
            </a:pPr>
            <a:r>
              <a:rPr dirty="0"/>
              <a:t>• Transaction Trends</a:t>
            </a:r>
          </a:p>
          <a:p>
            <a:pPr marL="0" indent="0">
              <a:buNone/>
            </a:pPr>
            <a:r>
              <a:rPr dirty="0"/>
              <a:t>• Investor </a:t>
            </a:r>
            <a:r>
              <a:rPr dirty="0" err="1"/>
              <a:t>Behaviour</a:t>
            </a:r>
            <a:r>
              <a:rPr dirty="0"/>
              <a:t>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CAGR</a:t>
            </a:r>
          </a:p>
          <a:p>
            <a:pPr marL="0" indent="0">
              <a:buNone/>
            </a:pPr>
            <a:r>
              <a:rPr dirty="0"/>
              <a:t>• Sharpe Ratio</a:t>
            </a:r>
          </a:p>
          <a:p>
            <a:pPr marL="0" indent="0">
              <a:buNone/>
            </a:pPr>
            <a:r>
              <a:rPr dirty="0"/>
              <a:t>• Sortino Ratio</a:t>
            </a:r>
          </a:p>
          <a:p>
            <a:pPr marL="0" indent="0">
              <a:buNone/>
            </a:pPr>
            <a:r>
              <a:rPr dirty="0"/>
              <a:t>• Alpha &amp; Beta</a:t>
            </a:r>
          </a:p>
          <a:p>
            <a:pPr marL="0" indent="0">
              <a:buNone/>
            </a:pPr>
            <a:r>
              <a:rPr dirty="0"/>
              <a:t>• Fund Scorecard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 &amp; Risk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VaR</a:t>
            </a:r>
            <a:r>
              <a:rPr dirty="0"/>
              <a:t> &amp; CVaR</a:t>
            </a:r>
          </a:p>
          <a:p>
            <a:pPr marL="0" indent="0">
              <a:buNone/>
            </a:pPr>
            <a:r>
              <a:rPr dirty="0"/>
              <a:t>• Rolling Sharpe Ratio</a:t>
            </a:r>
          </a:p>
          <a:p>
            <a:pPr marL="0" indent="0">
              <a:buNone/>
            </a:pPr>
            <a:r>
              <a:rPr dirty="0"/>
              <a:t>• Cohort Analysis</a:t>
            </a:r>
          </a:p>
          <a:p>
            <a:pPr marL="0" indent="0">
              <a:buNone/>
            </a:pPr>
            <a:r>
              <a:rPr dirty="0"/>
              <a:t>• SIP Continuity</a:t>
            </a:r>
          </a:p>
          <a:p>
            <a:pPr marL="0" indent="0">
              <a:buNone/>
            </a:pPr>
            <a:r>
              <a:rPr dirty="0"/>
              <a:t>• Sector HHI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Industry Overview Dashboard</a:t>
            </a:r>
          </a:p>
          <a:p>
            <a:pPr marL="0" indent="0">
              <a:buNone/>
            </a:pPr>
            <a:r>
              <a:rPr dirty="0"/>
              <a:t>• AUM KPIs</a:t>
            </a:r>
          </a:p>
          <a:p>
            <a:pPr marL="0" indent="0">
              <a:buNone/>
            </a:pPr>
            <a:r>
              <a:rPr dirty="0"/>
              <a:t>• SIP Inflows</a:t>
            </a:r>
          </a:p>
          <a:p>
            <a:pPr marL="0" indent="0">
              <a:buNone/>
            </a:pPr>
            <a:r>
              <a:rPr dirty="0"/>
              <a:t>• Fund House Analytics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BB7E3-6F77-BBD4-BF8B-28C491935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935" y="3864077"/>
            <a:ext cx="5053781" cy="22620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Risk vs Return Analysis</a:t>
            </a:r>
          </a:p>
          <a:p>
            <a:pPr marL="0" indent="0">
              <a:buNone/>
            </a:pPr>
            <a:r>
              <a:rPr dirty="0"/>
              <a:t>• Investor Analytics</a:t>
            </a:r>
          </a:p>
          <a:p>
            <a:pPr marL="0" indent="0">
              <a:buNone/>
            </a:pPr>
            <a:r>
              <a:rPr dirty="0"/>
              <a:t>• SIP Trends</a:t>
            </a:r>
          </a:p>
          <a:p>
            <a:pPr marL="0" indent="0">
              <a:buNone/>
            </a:pPr>
            <a:r>
              <a:rPr dirty="0"/>
              <a:t>• Market Comparison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53D0E-17D8-63CF-224E-A4177C472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341" y="4084408"/>
            <a:ext cx="6007511" cy="2773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Industry growth remained strong</a:t>
            </a:r>
          </a:p>
          <a:p>
            <a:pPr marL="0" indent="0">
              <a:buNone/>
            </a:pPr>
            <a:r>
              <a:rPr dirty="0"/>
              <a:t>• Equity funds generated strong returns</a:t>
            </a:r>
          </a:p>
          <a:p>
            <a:pPr marL="0" indent="0">
              <a:buNone/>
            </a:pPr>
            <a:r>
              <a:rPr dirty="0"/>
              <a:t>• Risk-adjusted performance varied</a:t>
            </a:r>
          </a:p>
          <a:p>
            <a:pPr marL="0" indent="0">
              <a:buNone/>
            </a:pPr>
            <a:r>
              <a:rPr dirty="0"/>
              <a:t>• SIPs remained a major growth driver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Bluestock</a:t>
            </a:r>
            <a:r>
              <a:rPr dirty="0"/>
              <a:t> Mutual Fund Analytics Capstone Project</a:t>
            </a:r>
          </a:p>
          <a:p>
            <a:pPr marL="0" indent="0">
              <a:buNone/>
            </a:pPr>
            <a:r>
              <a:rPr lang="en-IN" dirty="0"/>
              <a:t>Prepared By:</a:t>
            </a:r>
            <a:r>
              <a:rPr dirty="0"/>
              <a:t> Mohamed Ismail M</a:t>
            </a:r>
          </a:p>
          <a:p>
            <a:pPr marL="0" indent="0">
              <a:buNone/>
            </a:pPr>
            <a:r>
              <a:rPr dirty="0"/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262</Words>
  <Application>Microsoft Office PowerPoint</Application>
  <PresentationFormat>On-screen Show (4:3)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Bluestock Mutual Fund Analytics Capstone Project</vt:lpstr>
      <vt:lpstr>Problem Statement &amp; Objectives</vt:lpstr>
      <vt:lpstr>Data Sources</vt:lpstr>
      <vt:lpstr>Project Architecture</vt:lpstr>
      <vt:lpstr>EDA Highlights – Industry Analysis</vt:lpstr>
      <vt:lpstr>EDA Highlights – Investor Analysis</vt:lpstr>
      <vt:lpstr>Performance Metrics</vt:lpstr>
      <vt:lpstr>Advanced Analytics &amp; Risk Metrics</vt:lpstr>
      <vt:lpstr>Dashboard Overview</vt:lpstr>
      <vt:lpstr>Dashboard Analytics</vt:lpstr>
      <vt:lpstr>Key Findings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ismail</cp:lastModifiedBy>
  <cp:revision>9</cp:revision>
  <dcterms:created xsi:type="dcterms:W3CDTF">2013-01-27T09:14:16Z</dcterms:created>
  <dcterms:modified xsi:type="dcterms:W3CDTF">2026-06-16T18:59:10Z</dcterms:modified>
  <cp:category/>
</cp:coreProperties>
</file>